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AA"/>
                </a:solidFill>
                <a:latin typeface="Calibri"/>
              </a:defRPr>
            </a:pPr>
            <a:r>
              <a:t>RHODA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Calibri"/>
              </a:defRPr>
            </a:pPr>
            <a:r>
              <a:t>Virtual Lab Assistant for R&amp;S Oscilloscopes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2743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AA"/>
                </a:solidFill>
                <a:latin typeface="Calibri"/>
              </a:defRPr>
            </a:pPr>
            <a:r>
              <a:t>Track 2: Virtual Lab Assistant (Conversational / Voice)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085"/>
                </a:solidFill>
                <a:latin typeface="Calibri"/>
              </a:defRPr>
            </a:pPr>
            <a:r>
              <a:t>Rohde &amp; Schwarz AI-Assisted Onboarding Hackathon</a:t>
            </a:r>
            <a:br/>
            <a:r>
              <a:t>Kwame Nkrumah University of Science and Technology</a:t>
            </a:r>
            <a:br/>
            <a:r>
              <a:t>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085"/>
                </a:solidFill>
                <a:latin typeface="Calibri"/>
              </a:defRPr>
            </a:pPr>
            <a:r>
              <a:t>Team: Afari  ·  Gregory  ·  William  ·  Prince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New students struggle with oscilloscope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B0B8CC"/>
                </a:solidFill>
                <a:latin typeface="Calibri"/>
              </a:defRPr>
            </a:pPr>
            <a:r>
              <a:t>→  Novices lack accessible step-by-step guidance</a:t>
            </a:r>
          </a:p>
          <a:p>
            <a:pPr>
              <a:spcAft>
                <a:spcPts val="600"/>
              </a:spcAft>
              <a:defRPr sz="1800">
                <a:solidFill>
                  <a:srgbClr val="B0B8CC"/>
                </a:solidFill>
                <a:latin typeface="Calibri"/>
              </a:defRPr>
            </a:pPr>
            <a:r>
              <a:t>→  Translating lab procedures into commands is error-prone</a:t>
            </a:r>
          </a:p>
          <a:p>
            <a:pPr>
              <a:spcAft>
                <a:spcPts val="600"/>
              </a:spcAft>
              <a:defRPr sz="1800">
                <a:solidFill>
                  <a:srgbClr val="B0B8CC"/>
                </a:solidFill>
                <a:latin typeface="Calibri"/>
              </a:defRPr>
            </a:pPr>
            <a:r>
              <a:t>→  Safety mistakes risk equipment damage and injury</a:t>
            </a:r>
          </a:p>
          <a:p>
            <a:pPr>
              <a:spcAft>
                <a:spcPts val="600"/>
              </a:spcAft>
              <a:defRPr sz="1800">
                <a:solidFill>
                  <a:srgbClr val="B0B8CC"/>
                </a:solidFill>
                <a:latin typeface="Calibri"/>
              </a:defRPr>
            </a:pPr>
            <a:r>
              <a:t>→  No feedback on what went wrong or why</a:t>
            </a:r>
          </a:p>
          <a:p>
            <a:pPr>
              <a:spcAft>
                <a:spcPts val="600"/>
              </a:spcAft>
              <a:defRPr sz="1800">
                <a:solidFill>
                  <a:srgbClr val="B0B8CC"/>
                </a:solidFill>
                <a:latin typeface="Calibri"/>
              </a:defRPr>
            </a:pPr>
            <a:r>
              <a:t>→  Instructors can't track individual student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What students need: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 guide that speaks their language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Step-by-step walkthrough of procedures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Safety checks before touching hardware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Real-time instrument feedback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• Adaptive learning that tracks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Rhoda — conversational AI lab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Voice + Text Chat Interface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Ask questions naturally, get step-by-step guidance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Safety-Gated Instrument Control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Every WRITE command requires explicit confirmation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AI-Powered Troubleshooting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Describe a bad trace → get diagnosis + fix steps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XR Avatar (Quest Headset)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3D assistant with lip sync and hand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Real R&amp;S RTB24 Integration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SCPI control via RsInstrument over USB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Guided Workflows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2 demo flows: measurement + safety procedures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RAG Knowledge Base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15 documents from RTB2 manual + procedures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Progress Tracking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9 competency areas, curriculum-ordered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FRONTEND (TypeScript + Vite)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XR Avatar — Three.js + WebXR + IWSDK</a:t>
            </a:r>
          </a:p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Text Chat — /chat.html lab console</a:t>
            </a:r>
          </a:p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Instructor — /instructor.html dashboard</a:t>
            </a:r>
          </a:p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Voice — Gemini STT/TTS + GhanaNLP (Twi)</a:t>
            </a:r>
          </a:p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RAG — 18 embedded procedure/safety docs</a:t>
            </a:r>
          </a:p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Anomaly — fault pattern matching + Gemini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54864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BACKEND (Flask + 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13 REST API endpoints</a:t>
            </a:r>
          </a:p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RAG retrieval (sentence-transformers)</a:t>
            </a:r>
          </a:p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Instrument API with confirmation gate</a:t>
            </a:r>
          </a:p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Session logging + progress tracking</a:t>
            </a:r>
          </a:p>
          <a:p>
            <a:pPr>
              <a:spcAft>
                <a:spcPts val="600"/>
              </a:spcAft>
              <a:defRPr sz="1300">
                <a:solidFill>
                  <a:srgbClr val="B0B8CC"/>
                </a:solidFill>
                <a:latin typeface="Calibri"/>
              </a:defRPr>
            </a:pPr>
            <a:r>
              <a:t>Failure point analytics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0292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Three.js + WebXR     3D rendering, XR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Meta IWSDK           hand tracking, panels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Google Gemini 2.5    LLM, vision, STT, TTS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GhanaNLP API         Twi speech + translation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Flask 3.0            REST backend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sentence-transformers  RAG embeddings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RsInstrument        R&amp;S VISA/SCPI driver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METRICS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6,720 lines of code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22 TypeScript + 6 Python modules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15 RAG corpus documents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45 GLB animation assets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11 automated backend tests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13 API endpoints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 web entry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DEMO WORKFLOW 1: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Measure a 1 kHz Sine Wave (10 steps)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1.  Connect probe to CH1 BNC input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2.  Set probe attenuation to 10X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3.  Enable CH1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4.  Set vertical scale to 1 V/div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5.  Set timebase to 500 µs/div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6.  Set trigger: CH1, rising edge, auto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7.  Adjust trigger level to midpoint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8.  Verify waveform is stable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9.  Read measurement (expect ~1 kHz)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10. Review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B547"/>
                </a:solidFill>
                <a:latin typeface="Calibri"/>
              </a:defRPr>
            </a:pPr>
            <a:r>
              <a:t>Each instrument-changing step triggers a confirmation prompt.</a:t>
            </a:r>
            <a:br/>
            <a:r>
              <a:t>The student must approve before the oscilloscope setting changes.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DEMO WORKFLOW 2: SAFETY-CRITICAL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Handle an Overvoltage Warning (6 steps)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⚠  Step 1:  STOP — Disconnect probe from the circuit immediately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          Overvoltage can damage the instrument and create a safety hazard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⚠  Step 2:  Check signal voltage with a multimeter before reconnecting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⚠  Step 3:  Verify voltage is within safe limits (300V CAT II with 10X probe)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Step 4:  Select correct probe attenuation (10X or 100X for high voltage)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Step 5:  Set oscilloscope to maximum V/div range before reconnecting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    Step 6:  Reconnect probe carefully, verify no overload warning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SAFETY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Every instrument change requires explicit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Confirmation Gate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User or Rhoda requests a change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Backend generates preview with: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• Current value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• Proposed value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• Human-readable summary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• Unique confirmation token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Student sees prompt and decides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4. Only confirmed changes execute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5. Token expires if state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Safety Rules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READ operations never need confirmation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WRITE operations always need confirmation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Parameter safety limits enforced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(V/div: 1mV–10V, timebase: 1ns–50s)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Overvoltage detection → immediate warning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Default to simulator mode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Real hardware only with SCOPE_RESOURCE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No PII in session logs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Anomaly detection flags unsafe traces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REAL HARDWARE: R&amp;S RTB24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SCPI commands verified against RTB2 User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Connection (via RsInstrument Python library):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pip install RsInstrument pyvisa-py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SCOPE_RESOURCE=USB python server/app.py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Verified SCPI commands: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CHANnel&lt;m&gt;:STATe ON|OFF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CHANnel&lt;m&gt;:SCALe &lt;V/div&gt;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CHANnel&lt;m&gt;:COUPling DCLimit|ACLimit|GND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TIMebase:SCALe &lt;s/div&gt;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TRIGger:A:SOURce CH1..CH4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TRIGger:A:LEVel1:VALue &lt;volts&gt;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TRIGger:A:EDGE:SLOPe POSitive|NEGative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MEASurement&lt;m&gt;:MAIN FREQuency|PEAK|RMS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MEASurement&lt;m&gt;:RESult:ACTual?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Data flow: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Chat / Voice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 ↓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Flask Backend (:5001)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 ↓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Confirmation Gate (preview → approve)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 ↓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RsInstrumentBackend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 ↓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SCPI over USB TMC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  ↓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R&amp;S RTB24 Oscilloscope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Auto-discovery: list_resources('?*')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Fallback: simulator if hardware unavailable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TRACK 2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All requirements met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Live demo: 2 guided workflows (simple + safety-critical)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Assistant guides user step-by-step through procedures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Instrument configuration after explicit confirmation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Voice interaction (Gemini STT/TTS + GhanaNLP Twi)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Text chat interface (/chat.html)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Conversation transcripts (export JSON + server API)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Instructor view of logs and failure points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README with instrument/simulator connection guide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✓  Code repository on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201168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Stretch goals achieved:</a:t>
            </a:r>
          </a:p>
          <a:p>
            <a:pPr>
              <a:spcAft>
                <a:spcPts val="600"/>
              </a:spcAft>
              <a:defRPr sz="1500">
                <a:solidFill>
                  <a:srgbClr val="B0B8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✓  Voice integration with lip-synced avatar</a:t>
            </a:r>
          </a:p>
          <a:p>
            <a:pPr>
              <a:spcAft>
                <a:spcPts val="6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✓  Auto-configure instruments after confirmation</a:t>
            </a:r>
          </a:p>
          <a:p>
            <a:pPr>
              <a:spcAft>
                <a:spcPts val="6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✓  Twi language support (GhanaNLP)</a:t>
            </a:r>
          </a:p>
          <a:p>
            <a:pPr>
              <a:spcAft>
                <a:spcPts val="6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✓  AR component identification (Gemini Vision)</a:t>
            </a:r>
          </a:p>
          <a:p>
            <a:pPr>
              <a:spcAft>
                <a:spcPts val="6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✓  Anomaly detection with safety flags</a:t>
            </a:r>
          </a:p>
          <a:p>
            <a:pPr>
              <a:spcAft>
                <a:spcPts val="600"/>
              </a:spcAft>
              <a:defRPr sz="1500">
                <a:solidFill>
                  <a:srgbClr val="B0B8CC"/>
                </a:solidFill>
                <a:latin typeface="Calibri"/>
              </a:defRPr>
            </a:pPr>
            <a:r>
              <a:t>✓  Competency-based progress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Four cores, one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Afari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Stream I/O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5"/>
                </a:solidFill>
                <a:latin typeface="Calibri"/>
              </a:defRPr>
            </a:pPr>
            <a:r>
              <a:t>Mic/camera capture, STT/TTS pipeline,</a:t>
            </a:r>
            <a:br/>
            <a:r>
              <a:t>avatar lip-sync, audio recorder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Gregory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RAG /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832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5"/>
                </a:solidFill>
                <a:latin typeface="Calibri"/>
              </a:defRPr>
            </a:pPr>
            <a:r>
              <a:t>15-document corpus, procedure/safety/fault</a:t>
            </a:r>
            <a:br/>
            <a:r>
              <a:t>knowledge base, sentence-transformer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William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Instrument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5"/>
                </a:solidFill>
                <a:latin typeface="Calibri"/>
              </a:defRPr>
            </a:pPr>
            <a:r>
              <a:t>R&amp;S RTB24 SCPI control, confirmation gate,</a:t>
            </a:r>
            <a:br/>
            <a:r>
              <a:t>RsInstrument integration, USB auto-discovery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Prince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Vision /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394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085"/>
                </a:solidFill>
                <a:latin typeface="Calibri"/>
              </a:defRPr>
            </a:pPr>
            <a:r>
              <a:t>Component ID (Gemini Vision), anomaly detection,</a:t>
            </a:r>
            <a:br/>
            <a:r>
              <a:t>session logging, competency tracking, progress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A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Rhoda — Virtual Lab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085"/>
                </a:solidFill>
                <a:latin typeface="Calibri"/>
              </a:defRPr>
            </a:pPr>
            <a:r>
              <a:t>github.com/PhidLarkson/rohde-schwarz-assistant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085"/>
                </a:solidFill>
                <a:latin typeface="Calibri"/>
              </a:defRPr>
            </a:pPr>
            <a:r>
              <a:t>Demo:  /chat.html  ·  XR Avatar  ·  /instructor.html</a:t>
            </a:r>
            <a:br/>
            <a:r>
              <a:t>Backend:  python server/app.py  |  SCOPE_RESOURCE=USB for real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